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34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54864" cy="25603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1887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弘知远程教育运营平台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21945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驱动的远程教育运营平台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880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4A2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产品方案 · 内部汇报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92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背景与问题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从本地培训到远程教育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F5F9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之前：本地模式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25252"/>
                </a:solidFill>
              </a:rPr>
              <a:t>老师坐在培训机构里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25252"/>
                </a:solidFill>
              </a:rPr>
              <a:t>面对面教学、手工批改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25252"/>
                </a:solidFill>
              </a:rPr>
              <a:t>学生来自机构分配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25252"/>
                </a:solidFill>
              </a:rPr>
              <a:t>系统只覆盖诊断+进度追踪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926080"/>
          </a:xfrm>
          <a:prstGeom prst="roundRect">
            <a:avLst>
              <a:gd name="adj" fmla="val 3125"/>
            </a:avLst>
          </a:prstGeom>
          <a:solidFill>
            <a:srgbClr val="264653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现在：远程模式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219456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远程备课、组卷、获客、排课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远程阅卷诊断，学生组织管理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试课漏斗 + 支付追踪 + 约课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E9C46A"/>
                </a:solidFill>
              </a:rPr>
              <a:t>缺少商业运营模块支撑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核心挑战：系统需要从「诊断工具」升级为「运营平台」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老师现在怎么工作的？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5F9F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纸笔记录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试课学生信息记在本子上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查找困难，容易丢失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无法统计转化数据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EF9E7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29768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微信备注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支付状态用微信备注追踪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消息滚动后找不到记录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家长催费全靠记忆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651760" cy="3017520"/>
          </a:xfrm>
          <a:prstGeom prst="roundRect">
            <a:avLst>
              <a:gd name="adj" fmla="val 3448"/>
            </a:avLst>
          </a:prstGeom>
          <a:solidFill>
            <a:srgbClr val="FFF5F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13232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无法量化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不知道试课转化率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不知道哪些学生快到期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凭感觉判断教学效果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8229600" cy="457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代价：信息散落、丢失率高、无法量化转化率、难以批量管理、无法向家长提供数据支撑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帮学生管理成绩、提升成绩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真正的产品是学生的纵向状态 —— 知道什么、什么变了、接下来学什么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课程生成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生成交互式教案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和随堂测试题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帮助老师提升课堂互动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加深学生理解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14600" y="173736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264653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22402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评估知识点掌握度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识别薄弱环节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理清个性化学习路径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精准定位问题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73736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组卷诊断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2402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题库选题组卷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拍照自动批改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对照标准答案检验成果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量化知识掌握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73736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5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进度报告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22402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掌握趋势可视化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进步/退步自动标记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家长周报一键生成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量化成绩变化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114800"/>
            <a:ext cx="6949440" cy="457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5920" y="4297680"/>
            <a:ext cx="5852160" cy="411480"/>
          </a:xfrm>
          <a:prstGeom prst="roundRect">
            <a:avLst>
              <a:gd name="adj" fmla="val 13333"/>
            </a:avLst>
          </a:prstGeom>
          <a:solidFill>
            <a:srgbClr val="264653"/>
          </a:solidFill>
          <a:ln/>
        </p:spPr>
      </p:sp>
      <p:sp>
        <p:nvSpPr>
          <p:cNvPr id="20" name="Text 18"/>
          <p:cNvSpPr/>
          <p:nvPr/>
        </p:nvSpPr>
        <p:spPr>
          <a:xfrm>
            <a:off x="1645920" y="42976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四个能力，一个目的：帮学生管理成绩、提升成绩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能力底座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+ 多智能体 + 视觉识别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引擎驱动全部能力模块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150876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5361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引擎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· 多智能体 · 视觉识别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F3D47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课程生成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21868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教案 + 随堂题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生成互动内容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提升课堂参与度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68880" y="27432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F3D47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诊断批改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06040" y="321868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 + 自动判题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对照标准答案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量化知识掌握度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7432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F3D47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知识图谱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321868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掌握度评估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识别薄弱环节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理清学习路径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743200"/>
            <a:ext cx="1828800" cy="1737360"/>
          </a:xfrm>
          <a:prstGeom prst="roundRect">
            <a:avLst>
              <a:gd name="adj" fmla="val 4211"/>
            </a:avLst>
          </a:prstGeom>
          <a:solidFill>
            <a:srgbClr val="1F3D4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20840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运营沟通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720840" y="3218688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排课 + 营销话术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辅助约课建议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家长跟进沟通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角色与组织架构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三层角色分工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26465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54864" cy="9144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356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总部运营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 err="1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全局数据监控</a:t>
            </a:r>
            <a:r>
              <a:rPr lang="zh-CN" altLang="en-US" sz="1300" dirty="0"/>
              <a:t>      </a:t>
            </a:r>
            <a:r>
              <a:rPr lang="en-US" sz="1300" dirty="0" err="1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</a:t>
            </a:r>
            <a:r>
              <a:rPr lang="en-US" sz="13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</a:t>
            </a:r>
            <a:r>
              <a:rPr lang="en-US" sz="1300" dirty="0" err="1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老师管理</a:t>
            </a:r>
            <a:r>
              <a:rPr lang="zh-CN" altLang="en-US" sz="1300" dirty="0"/>
              <a:t>      </a:t>
            </a:r>
            <a:r>
              <a:rPr lang="en-US" sz="1300" dirty="0" err="1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收入分析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2A9D8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68880"/>
            <a:ext cx="54864" cy="13258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城市合伙人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 · 线索跟进 · 安排试课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家长沟通 · 转化追踪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(不教学)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246888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5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2468880"/>
            <a:ext cx="54864" cy="132588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578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2926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课程生成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远程教学 · 诊断批改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进度报告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2235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2880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安排试课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457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学生：上课 + 完成诊断         家长：查看报告 + 续费决策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近200名老师储备 · 前期2-3个试点城市 · 每城市1合伙人+2-5老师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方案对比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三种实施方案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5F9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渐进式扩展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工作量: S-M    风险: 低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复用现有代码量最大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最快让老师用起来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737373"/>
                </a:solidFill>
              </a:rPr>
              <a:t>体验可能不够完整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5F9F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完整平台构建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工作量: XL    风险: 中高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一次构建完整体验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架构清晰无技术债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383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737373"/>
                </a:solidFill>
              </a:rPr>
              <a:t>3-4月周期长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737373"/>
                </a:solidFill>
              </a:rPr>
              <a:t>远程模式验证风险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264653"/>
          </a:solidFill>
          <a:ln w="25400">
            <a:solidFill>
              <a:srgbClr val="E9C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126187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E9C46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26187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C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分阶段验证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工作量: M    风险: 低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2-3周快速验证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基于真实反馈迭代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AAAAAA"/>
                </a:solidFill>
              </a:rPr>
              <a:t>阶段1手动记录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推荐方案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C：分阶段验证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降低风险，快速迭代 — 先验证远程模式能跑通，再投入完整平台建设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5F9FA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737360"/>
            <a:ext cx="3931920" cy="5029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核心运营闭环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AI 课程生成（教案+随堂题）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试课线索管理（从微信→系统）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简单约课系统（1V1~1V*班型）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手动支付记录 + 诊断增强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老师仪表盘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5~6月开发 · 6月运营准备 · 7月验证成果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2834640"/>
          </a:xfrm>
          <a:prstGeom prst="roundRect">
            <a:avLst>
              <a:gd name="adj" fmla="val 3226"/>
            </a:avLst>
          </a:prstGeom>
          <a:solidFill>
            <a:srgbClr val="FEF9E7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737360"/>
            <a:ext cx="3931920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7830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完整商业能力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242316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在线支付集成（微信+支付宝）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完整约课系统（模板/批量排课）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学生生命周期管理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转化率统计和报表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</a:rPr>
              <a:t>流失预警+续费提醒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4251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阶段1验证后启动，4-6周交付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0" y="2651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389120" cy="594360"/>
          </a:xfrm>
          <a:prstGeom prst="roundRect">
            <a:avLst>
              <a:gd name="adj" fmla="val 12308"/>
            </a:avLst>
          </a:prstGeom>
          <a:solidFill>
            <a:srgbClr val="26465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858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课程生成 + 试课 + 约课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3776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 周 · 核心交付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EF9E7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554480"/>
            <a:ext cx="45720" cy="146304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AI 课程生成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011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输入主题/知识点 → 生成教案+随堂题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通用模式 + 诊断驱动个性化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复用 OpenMAIC 课程生成能力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结果保存为 CourseSession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5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554480"/>
            <a:ext cx="4572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试课线索管理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92040" y="20116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录入学生/家长信息、来源渠道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状态流：新线索→已联系→已试课→转化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转化后自动创建学生档案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5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3200400"/>
            <a:ext cx="4572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约课系统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1V1/1V2/1V3/1V4/1V* 班型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45分钟/节，支持90分钟连堂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预约→确认→完成→出勤记录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5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3200400"/>
            <a:ext cx="45720" cy="14630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数据模型 + 认证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CourseSession / TrialLead / Booking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UserRole 角色系统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25252"/>
                </a:solidFill>
              </a:rPr>
              <a:t>认证中间件 + 权限检查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50292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6465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系统开发：角色 + 工作台 + 运营面板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77840" y="566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3-4 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EF9E7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188720"/>
            <a:ext cx="45720" cy="16002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AI 课程生成 + 角色系统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UserRole 扩展(TEACHER/CITY_PARTNER/HQ_OPS)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City 模型 + 城市级数据隔离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CourseSession + TrialLead + Booking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5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188720"/>
            <a:ext cx="45720" cy="1600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城市合伙人工作台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线索漏斗(新→已联系→试课→转化)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待办：跟进线索 / 安排试课 / 分配老师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转化数据看板(个人 vs 城市均值)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5F9FA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971800"/>
            <a:ext cx="45720" cy="1600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总部运营面板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3429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全局概览：各城市线索、转化率、收入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城市对比排名 + 老师绩效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分账记录(PaymentRecord 扩展)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5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971800"/>
            <a:ext cx="45720" cy="16002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063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老师工作台(简化)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34290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纯教学：课程生成 + 今日课程 + 诊断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不再负责线索和获客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25252"/>
                </a:solidFill>
              </a:rPr>
              <a:t>课时统计 + 学生掌握度提升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+ 运营双闭环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 → 学 → 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F3D4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41732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诊断找弱项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出题 · 拍照批改 · 知识图谱定位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74720" y="1325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F3D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611880" y="141732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4173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4340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生成教案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生成互动课件 · 个性化出题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064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09360" y="1325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1F3D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46520" y="1417320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4173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804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随堂验证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19202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自动批改 · 掌握度更新 · 下次推荐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880360"/>
            <a:ext cx="7863840" cy="274320"/>
          </a:xfrm>
          <a:prstGeom prst="roundRect">
            <a:avLst>
              <a:gd name="adj" fmla="val 13333"/>
            </a:avLst>
          </a:prstGeom>
          <a:solidFill>
            <a:srgbClr val="26465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⟳ 反馈循环：掌握度更新 → 诊断重新定位 → AI 调整出题策略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371600" y="3291840"/>
            <a:ext cx="6400800" cy="457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1280160" y="352044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6" name="Text 24"/>
          <p:cNvSpPr/>
          <p:nvPr/>
        </p:nvSpPr>
        <p:spPr>
          <a:xfrm>
            <a:off x="128016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3959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试课线索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4178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录入跟进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3538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74720" y="352044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834640" y="3959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学生约课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834640" y="4178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选时/班型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480560" y="3538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669280" y="352044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0" y="3959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记录支付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4178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套餐/到期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675120" y="35387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863840" y="3520440"/>
            <a:ext cx="411480" cy="41148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41" name="Text 39"/>
          <p:cNvSpPr/>
          <p:nvPr/>
        </p:nvSpPr>
        <p:spPr>
          <a:xfrm>
            <a:off x="7863840" y="3520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223760" y="395935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家长报告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223760" y="41788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续费转化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6634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教学闭环参考华为「AI精准学」测→学→练框架。OpenMAIC 差异：AI 辅助老师而非替代老师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46" name="Text 4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4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完整商业能力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4-6 周 · 阶段1验证后启动 · 基于真实反馈调整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5F9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在线支付集成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接入第三方支付供应商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微信支付 + 支付宝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课程套餐定价和购买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支付确认 + 退款处理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6002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26465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完整约课系统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BBB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从简单预约到智能排课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课程模板 / 批量排课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冲突检测 / 自动提醒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DDDDD"/>
                </a:solidFill>
              </a:rPr>
              <a:t>课前微信订阅消息通知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F5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学生生命周期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量化运营数据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5146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线索→试课→付费→续费漏斗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转化率 / 续费率统计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04040"/>
                </a:solidFill>
              </a:rPr>
              <a:t>流失预警 / 续费提醒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前置条件：阶段1验证通过 + 支付供应商接口确认 + 商户资质审核完成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产品架构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 · 微信小程序 + Next.js + PostgreSQL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5F9F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25880"/>
            <a:ext cx="54864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44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课程生成  ·  拍照诊断  ·  进度报告  ·  学生约课  ·  老师管理端  ·  家长端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26465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95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后端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课程生成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教案+题目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9748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诊断服务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拍照识别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答案对照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追踪服务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知识点掌握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进步趋势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12280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运营服务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试课/约课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支付记录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5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657600"/>
            <a:ext cx="54864" cy="5029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6758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1363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StudentProfile / CourseSession / Question / TestPaper / DiagnosisResult / TrialLead / Booking / PaymentRecord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关键决策与采纳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设计过程中的关键决策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5F9F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63040"/>
            <a:ext cx="45720" cy="5669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996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驱动全部能力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课程生成、视觉识别诊断、多智能体知识图谱、AI 辅助运营沟通。AI 是底座，不是功能。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2121408"/>
            <a:ext cx="45720" cy="5669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57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课程生成进阶段1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957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远程课学生参与度低的根本解是 AI 生成的互动内容。与试课、约课并列第一阶段交付。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779776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5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79776"/>
            <a:ext cx="45720" cy="5669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163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排课移到阶段1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05409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审查指出：远程教育没有约课无法运作。即使支付手动，课程预约也是核心数据。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38144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438144"/>
            <a:ext cx="45720" cy="5669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74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班型 1V1~1V*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1246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1V1/1V2/1V3/1V4/1V*，容量由班型决定。预约时应用层检查，先到先得。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8412480" cy="566928"/>
          </a:xfrm>
          <a:prstGeom prst="roundRect">
            <a:avLst>
              <a:gd name="adj" fmla="val 9677"/>
            </a:avLst>
          </a:prstGeom>
          <a:solidFill>
            <a:srgbClr val="F5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4096512"/>
            <a:ext cx="45720" cy="56692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330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老师是平台运营者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3708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不是SaaS用户，不需要自助注册。角色通过 User.role 区分，同一个小程序内动态切换。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6465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成功标准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 + 运营双维度指标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234440"/>
            <a:ext cx="4572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93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角色工作台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28930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3个角色各有一个独立可用工作台，数据隔离正确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737360"/>
            <a:ext cx="4572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922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全流程闭环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79222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录线索→分配老师→上课→诊断→支付，全流程系统内完成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8412480" cy="411480"/>
          </a:xfrm>
          <a:prstGeom prst="roundRect">
            <a:avLst>
              <a:gd name="adj" fmla="val 13333"/>
            </a:avLst>
          </a:prstGeom>
          <a:solidFill>
            <a:srgbClr val="F5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240280"/>
            <a:ext cx="45720" cy="41148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29514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课程生成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86000" y="229514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老师可用 AI 生成教案+随堂题，≥2位老师周均使用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8412480" cy="4572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运营指标（7月检验）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试点城市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749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 2 个城市正式运营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514600" y="3337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265176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试课线索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749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总线索 &gt; 100 条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5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到场率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3749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试课到场率 &gt; 60%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12280" y="33375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264653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3429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3749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线索→付费转化率 &gt; 30%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44805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关键决策点：7月底根据运营数据决定是否启动阶段 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进度计划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 5月 — 7月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3017520" cy="3291840"/>
          </a:xfrm>
          <a:prstGeom prst="roundRect">
            <a:avLst>
              <a:gd name="adj" fmla="val 3030"/>
            </a:avLst>
          </a:prstGeom>
          <a:solidFill>
            <a:srgbClr val="1F3D47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1188720"/>
            <a:ext cx="3017520" cy="5943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1a 系统开发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5月 → 6月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City模型+UserRole扩展+DB迁移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城市合伙人工作台(线索漏斗+试课管理)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总部运营面板(全局对比+收入分析)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老师工作台(课程生成+诊断中心)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PaymentRecord扩展(分账字段)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联调：录线索→分配→上课→诊断→支付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46120" y="24688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1F3D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188720"/>
            <a:ext cx="2560320" cy="59436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216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1b 运营准备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74720" y="14813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确定2-3个试点城市+合伙人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城市合伙人培训(系统+话术+流程)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AI课程模板打磨+参数调优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家长端通知配置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灰度部署(1个城市先跑1周)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24688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89320" y="1188720"/>
            <a:ext cx="3017520" cy="3291840"/>
          </a:xfrm>
          <a:prstGeom prst="roundRect">
            <a:avLst>
              <a:gd name="adj" fmla="val 3030"/>
            </a:avLst>
          </a:prstGeom>
          <a:solidFill>
            <a:srgbClr val="1F3D47"/>
          </a:solidFill>
          <a:ln/>
        </p:spPr>
      </p:sp>
      <p:sp>
        <p:nvSpPr>
          <p:cNvPr id="18" name="Shape 16"/>
          <p:cNvSpPr/>
          <p:nvPr/>
        </p:nvSpPr>
        <p:spPr>
          <a:xfrm>
            <a:off x="5989320" y="1188720"/>
            <a:ext cx="3017520" cy="5943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2161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1c 运营验证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1481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46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920240"/>
            <a:ext cx="2743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2-3城市正式运营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每城市1合伙人+2-5老师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目标：线索&gt;100 到场率&gt;60%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目标：线索→付费转化率&gt;30%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周报+月度复盘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CCCCCC"/>
                </a:solidFill>
              </a:rPr>
              <a:t>检验成果→决定阶段2启动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371600" y="4617720"/>
            <a:ext cx="6400800" cy="457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6817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9C4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关键决策点：7月底根据运营数据决定是否启动阶段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822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E9C46A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54864" cy="1645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4980851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dirty="0"/>
              <a:t>    </a:t>
            </a:r>
            <a:r>
              <a:rPr dirty="0" err="1"/>
              <a:t>内容运营策略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9C46A"/>
                </a:solidFill>
                <a:latin typeface="Microsoft YaHei"/>
              </a:defRPr>
            </a:pPr>
            <a:r>
              <a:t>品牌+渠道双线 · 小红书+视频号+公众号 · AI辅助生产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486918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学迹 · 内容运营方案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8F"/>
                </a:solidFill>
                <a:latin typeface="Microsoft YaHei"/>
              </a:defRPr>
            </a:pPr>
            <a:r>
              <a:t>内容运营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4653"/>
                </a:solidFill>
                <a:latin typeface="Microsoft YaHei"/>
              </a:defRPr>
            </a:pPr>
            <a:r>
              <a:t>运营目标与优先级</a:t>
            </a:r>
          </a:p>
        </p:txBody>
      </p:sp>
      <p:sp>
        <p:nvSpPr>
          <p:cNvPr id="5" name="Oval 4"/>
          <p:cNvSpPr/>
          <p:nvPr/>
        </p:nvSpPr>
        <p:spPr>
          <a:xfrm>
            <a:off x="8370000" y="4790000"/>
            <a:ext cx="360000" cy="360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70000" y="479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920240" cy="28346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1645920" cy="27432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第一优先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4653"/>
                </a:solidFill>
                <a:latin typeface="Microsoft YaHei"/>
              </a:defRPr>
            </a:pPr>
            <a:r>
              <a:t>🥇 渠道招募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252"/>
                </a:solidFill>
                <a:latin typeface="Microsoft YaHei"/>
              </a:defRPr>
            </a:pPr>
            <a:r>
              <a:t>招募城市合伙人</a:t>
            </a:r>
            <a:br/>
            <a:r>
              <a:t>由渠道驱动获客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7200" y="1463040"/>
            <a:ext cx="1920240" cy="28346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94360" y="1554480"/>
            <a:ext cx="1645920" cy="27432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4360" y="1554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第二优先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0080" y="19202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4653"/>
                </a:solidFill>
                <a:latin typeface="Microsoft YaHei"/>
              </a:defRPr>
            </a:pPr>
            <a:r>
              <a:t>🥈 用户获客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0080" y="237744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252"/>
                </a:solidFill>
                <a:latin typeface="Microsoft YaHei"/>
              </a:defRPr>
            </a:pPr>
            <a:r>
              <a:t>内容吸引家长</a:t>
            </a:r>
            <a:br/>
            <a:r>
              <a:t>扫码使用小程序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57200" y="1463040"/>
            <a:ext cx="1920240" cy="28346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94360" y="1554480"/>
            <a:ext cx="1645920" cy="27432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94360" y="1554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第三优先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0080" y="19202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4653"/>
                </a:solidFill>
                <a:latin typeface="Microsoft YaHei"/>
              </a:defRPr>
            </a:pPr>
            <a:r>
              <a:t>🥉 品牌认知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0080" y="237744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252"/>
                </a:solidFill>
                <a:latin typeface="Microsoft YaHei"/>
              </a:defRPr>
            </a:pPr>
            <a:r>
              <a:t>建立"精准提分"</a:t>
            </a:r>
            <a:br/>
            <a:r>
              <a:t>专业认知和差异化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57200" y="1463040"/>
            <a:ext cx="1920240" cy="28346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94360" y="1554480"/>
            <a:ext cx="1645920" cy="274320"/>
          </a:xfrm>
          <a:prstGeom prst="round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360" y="1554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后续阶段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080" y="19202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64653"/>
                </a:solidFill>
                <a:latin typeface="Microsoft YaHei"/>
              </a:defRPr>
            </a:pPr>
            <a:r>
              <a:t>🏅 转化付费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0080" y="2377440"/>
            <a:ext cx="1554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25252"/>
                </a:solidFill>
                <a:latin typeface="Microsoft YaHei"/>
              </a:defRPr>
            </a:pPr>
            <a:r>
              <a:t>内容推动免费</a:t>
            </a:r>
            <a:br/>
            <a:r>
              <a:t>到付费的转化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8F"/>
                </a:solidFill>
                <a:latin typeface="Microsoft YaHei"/>
              </a:defRPr>
            </a:pPr>
            <a:r>
              <a:t>内容运营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4653"/>
                </a:solidFill>
                <a:latin typeface="Microsoft YaHei"/>
              </a:defRPr>
            </a:pPr>
            <a:r>
              <a:t>三平台策略 · 品牌+渠道双线</a:t>
            </a:r>
          </a:p>
        </p:txBody>
      </p:sp>
      <p:sp>
        <p:nvSpPr>
          <p:cNvPr id="5" name="Oval 4"/>
          <p:cNvSpPr/>
          <p:nvPr/>
        </p:nvSpPr>
        <p:spPr>
          <a:xfrm>
            <a:off x="8370000" y="4790000"/>
            <a:ext cx="360000" cy="360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70000" y="479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00" y="1463040"/>
            <a:ext cx="2692400" cy="3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880" y="1600200"/>
            <a:ext cx="232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  <a:latin typeface="Microsoft YaHei"/>
              </a:defRPr>
            </a:pPr>
            <a:r>
              <a:t>小红书 · 主战场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880" y="1920240"/>
            <a:ext cx="2326640" cy="264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教育知识图文（知识点自查/薄弱点分析）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诊断报告解读（让家长看懂数据）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学习方法卡片（可保存转发）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合伙人故事（招募+信任）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880" y="1737360"/>
            <a:ext cx="232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183600" y="4663440"/>
            <a:ext cx="1645920" cy="228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3600" y="46634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日更 · 30篇/月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000" y="1463040"/>
            <a:ext cx="2692400" cy="3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2880" y="1600200"/>
            <a:ext cx="232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A261"/>
                </a:solidFill>
                <a:latin typeface="Microsoft YaHei"/>
              </a:defRPr>
            </a:pPr>
            <a:r>
              <a:t>微信视频号 · 转化枢纽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2880" y="1920240"/>
            <a:ext cx="2326640" cy="264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产品demo短视频（诊断→课程→提分）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知识点讲解切片（30秒一个概念）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家长访谈（真实案例）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城市合伙人转发到家长群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2880" y="1737360"/>
            <a:ext cx="232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063600" y="4663440"/>
            <a:ext cx="1645920" cy="2286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3600" y="46634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隔日更 · 15条/月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000" y="1463040"/>
            <a:ext cx="2692400" cy="3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2880" y="1600200"/>
            <a:ext cx="232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9C46A"/>
                </a:solidFill>
                <a:latin typeface="Microsoft YaHei"/>
              </a:defRPr>
            </a:pPr>
            <a:r>
              <a:t>微信公众号 · 信任锚点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2880" y="1920240"/>
            <a:ext cx="2326640" cy="264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招商案例长文（转化潜在合伙人）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学习方法论深度文章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产品解读（多智能体/知识图谱）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季度学习报告白皮书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2880" y="1737360"/>
            <a:ext cx="232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943600" y="4663440"/>
            <a:ext cx="1645920" cy="2286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3600" y="466344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周双更 · 8篇/月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8F"/>
                </a:solidFill>
                <a:latin typeface="Microsoft YaHei"/>
              </a:defRPr>
            </a:pPr>
            <a:r>
              <a:t>内容运营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4653"/>
                </a:solidFill>
                <a:latin typeface="Microsoft YaHei"/>
              </a:defRPr>
            </a:pPr>
            <a:r>
              <a:t>首月内容日历 · 加速版</a:t>
            </a:r>
          </a:p>
        </p:txBody>
      </p:sp>
      <p:sp>
        <p:nvSpPr>
          <p:cNvPr id="5" name="Oval 4"/>
          <p:cNvSpPr/>
          <p:nvPr/>
        </p:nvSpPr>
        <p:spPr>
          <a:xfrm>
            <a:off x="8370000" y="4790000"/>
            <a:ext cx="360000" cy="360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70000" y="479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641600" cy="50292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品牌引爆 + 产品认知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23774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前3天集中轰炸：小红书双更（6篇）</a:t>
            </a:r>
          </a:p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视频号每天1条（7条）</a:t>
            </a:r>
          </a:p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公众号品牌故事+产品深度（2篇）</a:t>
            </a:r>
          </a:p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周末：首波合伙人招募内容上线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75760" y="1371600"/>
            <a:ext cx="2641600" cy="5029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2920" y="13716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2920" y="16459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效果验证 + 渠道转化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2920" y="2057400"/>
            <a:ext cx="23774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小红书日更（10篇）：案例+方法+合伙人</a:t>
            </a:r>
          </a:p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视频号隔日更（8条）：家长访谈+成绩变化</a:t>
            </a:r>
          </a:p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公众号招商+报告（2篇）</a:t>
            </a:r>
          </a:p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周末：首月内容数据复盘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5760" y="1371600"/>
            <a:ext cx="2641600" cy="502920"/>
          </a:xfrm>
          <a:prstGeom prst="rect">
            <a:avLst/>
          </a:prstGeom>
          <a:solidFill>
            <a:srgbClr val="90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2920" y="137160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Week 3-4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2920" y="1645920"/>
            <a:ext cx="2377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持续运营 + 迭代优化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2920" y="2057400"/>
            <a:ext cx="23774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保持日更/隔日更/周双更节奏</a:t>
            </a:r>
          </a:p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淘汰低效内容模板</a:t>
            </a:r>
          </a:p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加码高效内容模板</a:t>
            </a:r>
          </a:p>
          <a:p>
            <a:pPr>
              <a:spcAft>
                <a:spcPts val="8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• 启动合伙人内容工具包分发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8F"/>
                </a:solidFill>
                <a:latin typeface="Microsoft YaHei"/>
              </a:defRPr>
            </a:pPr>
            <a:r>
              <a:t>内容运营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4653"/>
                </a:solidFill>
                <a:latin typeface="Microsoft YaHei"/>
              </a:defRPr>
            </a:pPr>
            <a:r>
              <a:t>内容生产体系 · 模板化 + AI辅助</a:t>
            </a:r>
          </a:p>
        </p:txBody>
      </p:sp>
      <p:sp>
        <p:nvSpPr>
          <p:cNvPr id="5" name="Oval 4"/>
          <p:cNvSpPr/>
          <p:nvPr/>
        </p:nvSpPr>
        <p:spPr>
          <a:xfrm>
            <a:off x="8370000" y="4790000"/>
            <a:ext cx="360000" cy="360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70000" y="479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00" y="1463040"/>
            <a:ext cx="2692400" cy="3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880" y="1600200"/>
            <a:ext cx="232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9D8F"/>
                </a:solidFill>
                <a:latin typeface="Microsoft YaHei"/>
              </a:defRPr>
            </a:pPr>
            <a:r>
              <a:t>模板化生产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880" y="1920240"/>
            <a:ext cx="2326640" cy="264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知识点卡片：标题+知识点名+3个要点+CTA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诊断报告解读：报告截图+3色标注+解读文字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家长误区：常见错误观念+数据反驳+正确做法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合伙人故事：人物+经历+收益+招募CTA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880" y="1737360"/>
            <a:ext cx="232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00000" y="1463040"/>
            <a:ext cx="2692400" cy="3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2880" y="1600200"/>
            <a:ext cx="232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A261"/>
                </a:solidFill>
                <a:latin typeface="Microsoft YaHei"/>
              </a:defRPr>
            </a:pPr>
            <a:r>
              <a:t>AI辅助撰稿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2880" y="1920240"/>
            <a:ext cx="2326640" cy="264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每个知识点 = 现成选题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"&lt;知识点&gt;孩子为什么总是错"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公众号长文AI初稿 + 人工润色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批量生成标题和结构，人工把关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2880" y="1737360"/>
            <a:ext cx="232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80000" y="1463040"/>
            <a:ext cx="2692400" cy="32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2880" y="1600200"/>
            <a:ext cx="232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9C46A"/>
                </a:solidFill>
                <a:latin typeface="Microsoft YaHei"/>
              </a:defRPr>
            </a:pPr>
            <a:r>
              <a:t>多平台分发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2880" y="1920240"/>
            <a:ext cx="2326640" cy="2645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公众号长文 → 拆3篇小红书图文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视频号内容 → 截关键帧做图文素材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产品demo → 公众号嵌入+视频号+小红书截图</a:t>
            </a:r>
          </a:p>
          <a:p>
            <a:pPr>
              <a:spcAft>
                <a:spcPts val="600"/>
              </a:spcAft>
              <a:defRPr sz="1000">
                <a:solidFill>
                  <a:srgbClr val="525252"/>
                </a:solidFill>
                <a:latin typeface="Microsoft YaHei"/>
              </a:defRPr>
            </a:pPr>
            <a:r>
              <a:t>核心效率：1个选题 = 3平台内容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2880" y="1737360"/>
            <a:ext cx="232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8F"/>
                </a:solidFill>
                <a:latin typeface="Microsoft YaHei"/>
              </a:defRPr>
            </a:pPr>
            <a:r>
              <a:t>内容运营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4653"/>
                </a:solidFill>
                <a:latin typeface="Microsoft YaHei"/>
              </a:defRPr>
            </a:pPr>
            <a:r>
              <a:t>工作量与资源估算 · AI辅助后</a:t>
            </a:r>
          </a:p>
        </p:txBody>
      </p:sp>
      <p:sp>
        <p:nvSpPr>
          <p:cNvPr id="5" name="Oval 4"/>
          <p:cNvSpPr/>
          <p:nvPr/>
        </p:nvSpPr>
        <p:spPr>
          <a:xfrm>
            <a:off x="8370000" y="4790000"/>
            <a:ext cx="360000" cy="360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70000" y="479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2860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内容类型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463040"/>
            <a:ext cx="18288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0" y="15544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单条耗时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463040"/>
            <a:ext cx="164592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55448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月产出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22860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月总耗时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小红书图文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0116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30-45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01168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30 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15-22 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377440"/>
            <a:ext cx="2286000" cy="4572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4688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视频号短视频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377440"/>
            <a:ext cx="1828800" cy="4572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26080" y="24688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1-1.5 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377440"/>
            <a:ext cx="1645920" cy="4572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246888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15 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377440"/>
            <a:ext cx="2286000" cy="45720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24688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15-22 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2926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公众号长文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9260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2-3 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92608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8 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260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525252"/>
                </a:solidFill>
                <a:latin typeface="Microsoft YaHei"/>
              </a:defRPr>
            </a:pPr>
            <a:r>
              <a:t>16-24 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291840"/>
            <a:ext cx="2286000" cy="457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3832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合计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291840"/>
            <a:ext cx="1828800" cy="457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926080" y="338328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291840"/>
            <a:ext cx="1645920" cy="457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0" y="338328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291840"/>
            <a:ext cx="2286000" cy="457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38328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46-68 h/月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000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9D8F"/>
                </a:solidFill>
                <a:latin typeface="Microsoft YaHei"/>
              </a:defRPr>
            </a:pPr>
            <a:r>
              <a:t>≈ 每天 1.5-2 小时 · 一人全职绰绰有余 · 提前备好 Week 1 内容再启动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9D8F"/>
                </a:solidFill>
                <a:latin typeface="Microsoft YaHei"/>
              </a:defRPr>
            </a:pPr>
            <a:r>
              <a:t>内容运营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64653"/>
                </a:solidFill>
                <a:latin typeface="Microsoft YaHei"/>
              </a:defRPr>
            </a:pPr>
            <a:r>
              <a:t>首月关键指标</a:t>
            </a:r>
          </a:p>
        </p:txBody>
      </p:sp>
      <p:sp>
        <p:nvSpPr>
          <p:cNvPr id="5" name="Oval 4"/>
          <p:cNvSpPr/>
          <p:nvPr/>
        </p:nvSpPr>
        <p:spPr>
          <a:xfrm>
            <a:off x="8370000" y="4790000"/>
            <a:ext cx="360000" cy="360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70000" y="4790000"/>
            <a:ext cx="36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192024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小红书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1920240" cy="19202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1645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总曝光 ≥ 50,000</a:t>
            </a:r>
          </a:p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粉丝 ≥ 500</a:t>
            </a:r>
          </a:p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笔记平均互动 ≥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5760" y="1463040"/>
            <a:ext cx="1920240" cy="4572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5760" y="1463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视频号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5760" y="1920240"/>
            <a:ext cx="1920240" cy="19202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02920" y="2011680"/>
            <a:ext cx="1645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总播放 ≥ 20,000</a:t>
            </a:r>
          </a:p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视频号→小程序转化 ≥ 100</a:t>
            </a:r>
          </a:p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合伙人转发率 ≥ 80%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5760" y="1463040"/>
            <a:ext cx="1920240" cy="4572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65760" y="1463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公众号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65760" y="1920240"/>
            <a:ext cx="1920240" cy="19202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2920" y="2011680"/>
            <a:ext cx="1645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订阅 ≥ 300</a:t>
            </a:r>
          </a:p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文章平均阅读 ≥ 500</a:t>
            </a:r>
          </a:p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招商文章咨询转化 ≥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5760" y="1463040"/>
            <a:ext cx="1920240" cy="4572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65760" y="1463040"/>
            <a:ext cx="1920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渠道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5760" y="1920240"/>
            <a:ext cx="1920240" cy="192024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02920" y="2011680"/>
            <a:ext cx="16459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合伙人咨询 ≥ 20</a:t>
            </a:r>
          </a:p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签约 ≥ 5</a:t>
            </a:r>
          </a:p>
          <a:p>
            <a:pPr>
              <a:spcAft>
                <a:spcPts val="1200"/>
              </a:spcAft>
              <a:defRPr sz="1200" b="1">
                <a:solidFill>
                  <a:srgbClr val="264653"/>
                </a:solidFill>
                <a:latin typeface="Microsoft YaHei"/>
              </a:defRPr>
            </a:pPr>
            <a:r>
              <a:t>✓ 合伙人内容分发率 ≥ 60%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品牌+渠道双线驱动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914400" cy="54864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 小红书日更 + 视频号隔日更 + 公众号周双更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 内容模板化 · AI辅助生产 · 一次制作多平台分发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 日均 1.5-2h 工作量 · 一人全职可覆盖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 渠道优先 → 品牌认知 → 用户获客 → 转化付费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869180"/>
            <a:ext cx="157447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学迹</a:t>
            </a:r>
            <a:r>
              <a:rPr dirty="0"/>
              <a:t> · </a:t>
            </a:r>
            <a:r>
              <a:rPr dirty="0" err="1"/>
              <a:t>孩子自己的AI老师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1457</Words>
  <Application>Microsoft Macintosh PowerPoint</Application>
  <PresentationFormat>全屏显示(16:9)</PresentationFormat>
  <Paragraphs>467</Paragraphs>
  <Slides>24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远程教育运营平台 · 产品方案</dc:title>
  <dc:subject>PptxGenJS Presentation</dc:subject>
  <dc:creator>OpenMAIC</dc:creator>
  <cp:lastModifiedBy>Jian Cao</cp:lastModifiedBy>
  <cp:revision>4</cp:revision>
  <dcterms:created xsi:type="dcterms:W3CDTF">2026-05-15T03:59:33Z</dcterms:created>
  <dcterms:modified xsi:type="dcterms:W3CDTF">2026-05-16T23:52:34Z</dcterms:modified>
</cp:coreProperties>
</file>